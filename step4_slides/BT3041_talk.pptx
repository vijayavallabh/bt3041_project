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[Vijayavallabh · 0:20]</a:t>
            </a:r>
          </a:p>
          <a:p>
            <a:r>
              <a:t>Good morning. We ask what tumour gene expression reveals about the three clinical receptor groups of breast cancer.</a:t>
            </a:r>
          </a:p>
          <a:p>
            <a:r>
              <a:t>We use 1,088 TCGA tumours, and we check every finding in protein from the same tumours and in an independent</a:t>
            </a:r>
          </a:p>
          <a:p>
            <a:r>
              <a:t>cohort, METABRIC.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[Vijayavallabh · 0:45]</a:t>
            </a:r>
          </a:p>
          <a:p>
            <a:r>
              <a:t>Clinically, breast cancer is grouped by three tests: ER and PR by immunohistochemistry, and HER2 by IHC or FISH.</a:t>
            </a:r>
          </a:p>
          <a:p>
            <a:r>
              <a:t>These tests decide treatment, and triple-negative tumours have no targeted therapy.</a:t>
            </a:r>
          </a:p>
          <a:p>
            <a:r>
              <a:t>Many studies use the PAM50 subtypes instead, but PAM50 is computed from expression, so that would be circular.</a:t>
            </a:r>
          </a:p>
          <a:p>
            <a:r>
              <a:t>We use the clinical results as labels and PAM50 only as a comparator.</a:t>
            </a:r>
          </a:p>
          <a:p>
            <a:r>
              <a:t>Our three questions: does unsupervised structure recover the groups; which genes and pathways differ; and can</a:t>
            </a:r>
          </a:p>
          <a:p>
            <a:r>
              <a:t>expression predict clinical status better than the receptor gene alone.</a:t>
            </a:r>
          </a:p>
          <a:p>
            <a:r>
              <a:t>We validate in protein from the same tumours and in METABRIC.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[Vijayavallabh · 0:45]</a:t>
            </a:r>
          </a:p>
          <a:p>
            <a:r>
              <a:t>Data preparation. We keep one primary tumour per patient and exclude 9 that failed an RNA identity check or had</a:t>
            </a:r>
          </a:p>
          <a:p>
            <a:r>
              <a:t>redacted clinical records, leaving 1,088 tumours for unsupervised work.</a:t>
            </a:r>
          </a:p>
          <a:p>
            <a:r>
              <a:t>For HER2 we use FISH first, then the IHC score, and set equivocal or contradictory results to missing.</a:t>
            </a:r>
          </a:p>
          <a:p>
            <a:r>
              <a:t>Women with all three receptors known give 591 HR+/HER2−, 160 HER2+ and 157 triple-negative tumours.</a:t>
            </a:r>
          </a:p>
          <a:p>
            <a:r>
              <a:t>Differential expression uses raw STAR counts, keeping genes with at least 10 counts in 157 tumours.</a:t>
            </a:r>
          </a:p>
          <a:p>
            <a:r>
              <a:t>RPPA adds protein for 730 tumours, and METABRIC adds 1,980 tumours with independent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[Vedant · 0:40]</a:t>
            </a:r>
          </a:p>
          <a:p>
            <a:r>
              <a:t>First, exploration without labels. On the UMAP of the 2,000 most variable genes, one island separates completely.</a:t>
            </a:r>
          </a:p>
          <a:p>
            <a:r>
              <a:t>It holds 82% of all triple-negative tumours. HER2-positive tumours, in orange, mostly sit among the</a:t>
            </a:r>
          </a:p>
          <a:p>
            <a:r>
              <a:t>hormone-receptor-positive tumours, at one edge.</a:t>
            </a:r>
          </a:p>
          <a:p>
            <a:r>
              <a:t>The violins show why: ESR1 is the strongest single difference between TNBC and HR+, with a rank-biserial effect of −0.95.</a:t>
            </a:r>
          </a:p>
          <a:p>
            <a:r>
              <a:t>ERBB2 is the clearest marker of HER2+, while FOXC1, a basal transcription factor, and MKI67, proliferation, are higher in TNBC.</a:t>
            </a:r>
          </a:p>
          <a:p>
            <a:r>
              <a:t>All four differences are significant after Benjamini–Hochberg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[Vedant · 0:45]</a:t>
            </a:r>
          </a:p>
          <a:p>
            <a:r>
              <a:t>Next, clustering, with the PAM50 genes left out. Consensus clustering is most stable at k = 2, with a PAC of 0.02:</a:t>
            </a:r>
          </a:p>
          <a:p>
            <a:r>
              <a:t>a basal-like group of 217 tumours splits off. Its agreement with IHC ER status is an adjusted Rand index of 0.67.</a:t>
            </a:r>
          </a:p>
          <a:p>
            <a:r>
              <a:t>At k = 5 a HER2-enriched cluster appears, but it is the least stable, so we call it a tendency, and luminal tumours</a:t>
            </a:r>
          </a:p>
          <a:p>
            <a:r>
              <a:t>split differently from PAM50 LumA and LumB, a known continuum.</a:t>
            </a:r>
          </a:p>
          <a:p>
            <a:r>
              <a:t>So for question 1: expression recovers the ER-negative, basal axis strongly, HER2 only weakly.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[Harshit · 0:50]</a:t>
            </a:r>
          </a:p>
          <a:p>
            <a:r>
              <a:t>Differential expression, TNBC versus HR+/HER2−, with PyDESeq2 on raw counts, adjusting for histology.</a:t>
            </a:r>
          </a:p>
          <a:p>
            <a:r>
              <a:t>Instead of filtering by fold change after the test, we test the 2-fold threshold directly. A plain Wald test calls</a:t>
            </a:r>
          </a:p>
          <a:p>
            <a:r>
              <a:t>79% of genes significant, which is not informative; with the threshold test,</a:t>
            </a:r>
          </a:p>
          <a:p>
            <a:r>
              <a:t>2,741 genes differ more than 2-fold at 5% FDR.</a:t>
            </a:r>
          </a:p>
          <a:p>
            <a:r>
              <a:t>ESR1 and PGR are positive controls. Beyond them, the ER regulon (GATA3, FOXA1, AGR3) is lower in TNBC, and basal</a:t>
            </a:r>
          </a:p>
          <a:p>
            <a:r>
              <a:t>transcription factors (FOXC1, EN1, SOX10) are higher.</a:t>
            </a:r>
          </a:p>
          <a:p>
            <a:r>
              <a:t>On the right, the list is robust: it keeps 91% of genes if we drop lobular tumours, 94% adding age,</a:t>
            </a:r>
          </a:p>
          <a:p>
            <a:r>
              <a:t>and 87% with strict labels. HER2+ vs HR+ gives only 148 genes, led by genes on the 17q12 amplicon around ERBB2.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[Harshit · 0:50]</a:t>
            </a:r>
          </a:p>
          <a:p>
            <a:r>
              <a:t>Pathways. GSEA on the ranked genes finds 28 Hallmark sets at FDR 5%. TNBC ranks higher on proliferation</a:t>
            </a:r>
          </a:p>
          <a:p>
            <a:r>
              <a:t>(E2F targets, G2M), MYC and immune programmes, and lower on estrogen response.</a:t>
            </a:r>
          </a:p>
          <a:p>
            <a:r>
              <a:t>These gene-permutation q-values are known to be optimistic when genes are co-expressed, so we ran two tests that</a:t>
            </a:r>
          </a:p>
          <a:p>
            <a:r>
              <a:t>account for correlation: CAMERA and label-permutation GSEA. They agree on the direction of every set, but only</a:t>
            </a:r>
          </a:p>
          <a:p>
            <a:r>
              <a:t>early estrogen response stays significant. So we report effect sizes, not q ≈ 0.</a:t>
            </a:r>
          </a:p>
          <a:p>
            <a:r>
              <a:t>Top right: clinical TNBC agrees with PAM50 Basal with kappa 0.78, close to the 2012 TCGA paper. Bottom right: the same</a:t>
            </a:r>
          </a:p>
          <a:p>
            <a:r>
              <a:t>pathway shifts replicate in METABRIC, with a correlation of 0.94.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[Navya · 1:05]</a:t>
            </a:r>
          </a:p>
          <a:p>
            <a:r>
              <a:t>Question 3: can expression predict clinical status? We trained four models (L1 logistic regression, linear SVM,</a:t>
            </a:r>
          </a:p>
          <a:p>
            <a:r>
              <a:t>Random Forest and PLS-DA) in nested cross-validation, with every filtering, scaling and selection step inside the</a:t>
            </a:r>
          </a:p>
          <a:p>
            <a:r>
              <a:t>training folds, so there is no leakage. Shuffled labels give an MCC of about zero.</a:t>
            </a:r>
          </a:p>
          <a:p>
            <a:r>
              <a:t>The key result: models match, but do not beat, the receptor gene alone. ESR1 alone has an AUC of 0.959,</a:t>
            </a:r>
          </a:p>
          <a:p>
            <a:r>
              <a:t>the best model 0.954; ERBB2 alone 0.845, the best model 0.851.</a:t>
            </a:r>
          </a:p>
          <a:p>
            <a:r>
              <a:t>The corrected t-tests, which account for overlapping folds, give p = 0.69 and 0.66.</a:t>
            </a:r>
          </a:p>
          <a:p>
            <a:r>
              <a:t>Then we removed the receptor genes, every gene within 1.5 Mb of ERBB2, and the PAM50 genes. ER is unchanged, at</a:t>
            </a:r>
          </a:p>
          <a:p>
            <a:r>
              <a:t>0.95–0.95: ER status is written across a whole regulon, not one gene.</a:t>
            </a:r>
          </a:p>
          <a:p>
            <a:r>
              <a:t>HER2 drops to 0.78–0.82: some HER2 signal lies outside the amplicon, largely the lower-ER,</a:t>
            </a:r>
          </a:p>
          <a:p>
            <a:r>
              <a:t>proliferative character of HER2+ tumours.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[Anitha · 1:00]</a:t>
            </a:r>
          </a:p>
          <a:p>
            <a:r>
              <a:t>Validation. Left: for 85 genes with a protein antibody, the mRNA fold change predicts the protein difference</a:t>
            </a:r>
          </a:p>
          <a:p>
            <a:r>
              <a:t>with Spearman rho 0.80; a permutation test gives p = 0.001.</a:t>
            </a:r>
          </a:p>
          <a:p>
            <a:r>
              <a:t>Middle: where does the ER model err? Of the 15 tumours that IHC calls ER-negative but the model calls positive,</a:t>
            </a:r>
          </a:p>
          <a:p>
            <a:r>
              <a:t>8 of the 10 with protein data have ER-alpha protein at ER-positive levels. These are probably IHC false negatives, not</a:t>
            </a:r>
          </a:p>
          <a:p>
            <a:r>
              <a:t>model errors.</a:t>
            </a:r>
          </a:p>
          <a:p>
            <a:r>
              <a:t>Right: METABRIC. We froze the models on TCGA before reading any METABRIC label. The ER model reaches AUC 0.96,</a:t>
            </a:r>
          </a:p>
          <a:p>
            <a:r>
              <a:t>HER2 0.91, and ER−/HER2− versus rest 0.93; HER2 transfers even better than it cross-validated, because</a:t>
            </a:r>
          </a:p>
          <a:p>
            <a:r>
              <a:t>METABRIC's HER2 label is copy number. And 86% of the TCGA DEGs replicate with the same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[Anitha · 0:45]</a:t>
            </a:r>
          </a:p>
          <a:p>
            <a:r>
              <a:t>Three take-home messages. First, triple-negative breast cancer is a distinct transcriptional state: ER regulon off,</a:t>
            </a:r>
          </a:p>
          <a:p>
            <a:r>
              <a:t>basal and proliferation programmes on. HER2-positive tumours differ far less, led by the amplicon.</a:t>
            </a:r>
          </a:p>
          <a:p>
            <a:r>
              <a:t>Second, the receptor gene already carries almost all the information about clinical status; ER signal is spread over</a:t>
            </a:r>
          </a:p>
          <a:p>
            <a:r>
              <a:t>a regulon, HER2 depends more on the amplicon.</a:t>
            </a:r>
          </a:p>
          <a:p>
            <a:r>
              <a:t>Third, these results hold in protein and in an independent cohort.</a:t>
            </a:r>
          </a:p>
          <a:p>
            <a:r>
              <a:t>Limitations: pathway significance shrinks once gene correlation is counted, we did not adjust for purity, and TCGA</a:t>
            </a:r>
          </a:p>
          <a:p>
            <a:r>
              <a:t>survival is exploratory. Thank you;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3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2514E"/>
                </a:solidFill>
                <a:latin typeface="Arial"/>
              </a:rPr>
              <a:t>BT3041 Analysis and Interpretation of Biological Data · Term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500" b="1" i="0">
                <a:solidFill>
                  <a:srgbClr val="0B0B0B"/>
                </a:solidFill>
                <a:latin typeface="Arial"/>
              </a:rPr>
              <a:t>What does tumour gene expression reveal about the clinical receptor groups of breast cancer?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7899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2514E"/>
                </a:solidFill>
                <a:latin typeface="Arial"/>
              </a:rPr>
              <a:t>TCGA breast cancer RNA-seq (1,088 tumours), checked against protein (RPPA) in the same tumours and an independent cohort (METABRIC, 1,980 tumours)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40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9659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HR+/HER2−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n = 591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840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886200"/>
            <a:ext cx="19659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HER2+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n = 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3840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3886200"/>
            <a:ext cx="19659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TNBC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n = 157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840480"/>
            <a:ext cx="448056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2514E"/>
                </a:solidFill>
                <a:latin typeface="Arial"/>
              </a:rPr>
              <a:t>Groups from clinical IHC/FISH tests (ER, PR, HER2), not from expression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0B0B0B"/>
                </a:solidFill>
                <a:latin typeface="Arial"/>
              </a:rPr>
              <a:t>Team 16: Vijayavallabh · Vedant · Harshit · Navya · Anitha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4476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Arial"/>
              </a:rPr>
              <a:t>IIT Madras · November 2026 · Code: github.com/Vijayavallabh/BT3041_Project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0B0B"/>
                </a:solidFill>
                <a:latin typeface="Arial"/>
              </a:rPr>
              <a:t>Receptor tests guide treatment. What does expression add?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52514E"/>
                </a:solidFill>
                <a:latin typeface="Arial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12064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0B0B0B"/>
                </a:solidFill>
                <a:latin typeface="Arial"/>
              </a:rPr>
              <a:t>• Pathologists test ER and PR (IHC) and HER2 (IHC/FISH); the result picks endocrine therapy, anti-HER2 drugs or chemotherapy.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0B0B0B"/>
                </a:solidFill>
                <a:latin typeface="Arial"/>
              </a:rPr>
              <a:t>• TNBC (all three negative) has no targeted therapy and relapses early.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0B0B0B"/>
                </a:solidFill>
                <a:latin typeface="Arial"/>
              </a:rPr>
              <a:t>• PAM50 subtypes are computed from expression itself, so "does expression separate PAM50?" is circular. We use the clinical labels and keep PAM50 only as a comparator.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52514E"/>
                </a:solidFill>
                <a:latin typeface="Arial"/>
              </a:rPr>
              <a:t>Research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27632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D3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627632"/>
            <a:ext cx="56692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0B0B0B"/>
                </a:solidFill>
                <a:latin typeface="Arial"/>
              </a:rPr>
              <a:t>Does label-free structure (PCA, UMAP, clustering) recover the receptor groups? </a:t>
            </a:r>
            <a:r>
              <a:rPr sz="1300" b="0" i="0">
                <a:solidFill>
                  <a:srgbClr val="898781"/>
                </a:solidFill>
                <a:latin typeface="Arial"/>
              </a:rPr>
              <a:t>slides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96312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D3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96312"/>
            <a:ext cx="56692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50592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0B0B0B"/>
                </a:solidFill>
                <a:latin typeface="Arial"/>
              </a:rPr>
              <a:t>Which genes and pathways differ between TNBC and HR+/HER2− (DE + FDR, GSEA)? </a:t>
            </a:r>
            <a:r>
              <a:rPr sz="1300" b="0" i="0">
                <a:solidFill>
                  <a:srgbClr val="898781"/>
                </a:solidFill>
                <a:latin typeface="Arial"/>
              </a:rPr>
              <a:t>slides 6–7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64991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D3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364991"/>
            <a:ext cx="566928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319272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0B0B0B"/>
                </a:solidFill>
                <a:latin typeface="Arial"/>
              </a:rPr>
              <a:t>Can expression predict clinical ER and HER2 status better than the receptor gene alone? </a:t>
            </a:r>
            <a:r>
              <a:rPr sz="1300" b="0" i="0">
                <a:solidFill>
                  <a:srgbClr val="898781"/>
                </a:solidFill>
                <a:latin typeface="Arial"/>
              </a:rPr>
              <a:t>slide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52514E"/>
                </a:solidFill>
                <a:latin typeface="Arial"/>
              </a:rPr>
              <a:t>Validation design (slide 9): every result is checked outside the data it came 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73752"/>
            <a:ext cx="32918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0B0B"/>
                </a:solidFill>
                <a:latin typeface="Arial"/>
              </a:rPr>
              <a:t>Labels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Arial"/>
              </a:rPr>
              <a:t>Clinical IHC/FISH for ER, PR, HER2. PAM50 only as a comparator; PAM50 genes left out of clustering and ablations.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48006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873752"/>
            <a:ext cx="32918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0B0B"/>
                </a:solidFill>
                <a:latin typeface="Arial"/>
              </a:rPr>
              <a:t>Protein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Arial"/>
              </a:rPr>
              <a:t>TCGA RPPA on the same tumours (730 with RNA and protein): do mRNA changes show up in protein?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8006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873752"/>
            <a:ext cx="32918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0B0B"/>
                </a:solidFill>
                <a:latin typeface="Arial"/>
              </a:rPr>
              <a:t>Independent cohort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Arial"/>
              </a:rPr>
              <a:t>METABRIC microarrays: ER by IHC, HER2 by DNA copy number. Models frozen on TCGA before any METABRIC label was read.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 flow from downloaded TCGA HiSeqV2, STAR counts, RPPA and METABRIC files to the analysis group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AP of tumours coloured by clinical group with a separate basal-like island, and violins of ESR1, ERBB2, FOXC1 and MKI67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-means clustering compared with PAM50, and adjusted Rand index of k=2 and k=5 clusterings against ER, clinical group and PAM5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olcano plot of TNBC versus HR+/HER2− differential expression and DEG counts in each sensitivity ru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llmark NES bar chart with CAMERA and label-permutation checks, TNBC vs PAM50 Basal 2x2 table, and METABRIC NES agreem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C curves for clinical ER and HER2 and AUC of four models by gene set compared with the receptor gene alon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RNA versus protein fold changes, RPPA ER-alpha by ER model error type, and METABRIC transfer AUC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B0B0B"/>
                </a:solidFill>
                <a:latin typeface="Arial"/>
              </a:rPr>
              <a:t>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66160" cy="278892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566160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3246120" cy="2514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B0B0B"/>
                </a:solidFill>
                <a:latin typeface="Arial"/>
              </a:rPr>
              <a:t>1. TNBC is a distinct transcriptional state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 i="0">
                <a:solidFill>
                  <a:srgbClr val="0B0B0B"/>
                </a:solidFill>
                <a:latin typeface="Arial"/>
              </a:rPr>
              <a:t>A basal-like island holds 82% of TNBC; 2,741 genes differ &gt; 2-fold: ER regulon down, basal factors, proliferation and MYC up. HER2+ differs far less (148 genes, led by the 17q12 amplicon).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188720"/>
            <a:ext cx="3566160" cy="278892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79" y="1188720"/>
            <a:ext cx="3566160" cy="128016"/>
          </a:xfrm>
          <a:prstGeom prst="rect">
            <a:avLst/>
          </a:prstGeom>
          <a:solidFill>
            <a:srgbClr val="3D3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1" y="1417320"/>
            <a:ext cx="3246120" cy="2514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B0B0B"/>
                </a:solidFill>
                <a:latin typeface="Arial"/>
              </a:rPr>
              <a:t>2. The receptor gene already says almost everything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 i="0">
                <a:solidFill>
                  <a:srgbClr val="0B0B0B"/>
                </a:solidFill>
                <a:latin typeface="Arial"/>
              </a:rPr>
              <a:t>Models match but do not beat ESR1 (0.96) and ERBB2 (0.85). ER survives removing ESR1 (0.95): a regulon. HER2 falls to 0.78–0.82 without the amplicon.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188720"/>
            <a:ext cx="3566160" cy="278892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9" y="1188720"/>
            <a:ext cx="3566160" cy="128016"/>
          </a:xfrm>
          <a:prstGeom prst="rect">
            <a:avLst/>
          </a:prstGeom>
          <a:solidFill>
            <a:srgbClr val="3D3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1417320"/>
            <a:ext cx="3246120" cy="2514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B0B0B"/>
                </a:solidFill>
                <a:latin typeface="Arial"/>
              </a:rPr>
              <a:t>3. Findings hold beyond the training data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0" i="0">
                <a:solidFill>
                  <a:srgbClr val="0B0B0B"/>
                </a:solidFill>
                <a:latin typeface="Arial"/>
              </a:rPr>
              <a:t>mRNA matches protein (ρ = 0.80); METABRIC transfer AUC 0.96 (ER), 0.91 (HER2); 86% of DEGs replicate. Several model 'errors' look like IHC false negatives.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52514E"/>
                </a:solidFill>
                <a:latin typeface="Arial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566928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Arial"/>
              </a:rPr>
              <a:t>• Pathway q-values: only early estrogen response survives correlation-aware tests.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Arial"/>
              </a:rPr>
              <a:t>• DE not adjusted for tumour purity; proliferation and immune shifts are partly composition.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Arial"/>
              </a:rPr>
              <a:t>• HER2 labels from status text alone are noisy (they cost about 0.05 AUC).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Arial"/>
              </a:rPr>
              <a:t>• TCGA follow-up is short: survival is exploratory (100 progression events).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5120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52514E"/>
                </a:solidFill>
                <a:latin typeface="Arial"/>
              </a:rPr>
              <a:t>Done now / for the final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512064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0B0B"/>
                </a:solidFill>
                <a:latin typeface="Arial"/>
              </a:rPr>
              <a:t>Done: </a:t>
            </a:r>
            <a:r>
              <a:rPr sz="1400" b="0" i="0">
                <a:solidFill>
                  <a:srgbClr val="0B0B0B"/>
                </a:solidFill>
                <a:latin typeface="Arial"/>
              </a:rPr>
              <a:t>data preparation, exploration, clustering, DE, pathways, classification, RPPA and METABRIC validation.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0B0B"/>
                </a:solidFill>
                <a:latin typeface="Arial"/>
              </a:rPr>
              <a:t>Report: </a:t>
            </a:r>
            <a:r>
              <a:rPr sz="1400" b="0" i="0">
                <a:solidFill>
                  <a:srgbClr val="0B0B0B"/>
                </a:solidFill>
                <a:latin typeface="Arial"/>
              </a:rPr>
              <a:t>survival in TCGA and METABRIC, label-rule sensitivity, comparison with 21 published numbers.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0B0B"/>
                </a:solidFill>
                <a:latin typeface="Arial"/>
              </a:rPr>
              <a:t>Future: </a:t>
            </a:r>
            <a:r>
              <a:rPr sz="1400" b="0" i="0">
                <a:solidFill>
                  <a:srgbClr val="0B0B0B"/>
                </a:solidFill>
                <a:latin typeface="Arial"/>
              </a:rPr>
              <a:t>purity-adjusted DE; proteomic (CPTAC) labels.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0B0B"/>
                </a:solidFill>
                <a:latin typeface="Arial"/>
              </a:rPr>
              <a:t>Code: </a:t>
            </a:r>
            <a:r>
              <a:rPr sz="1400" b="0" i="0">
                <a:solidFill>
                  <a:srgbClr val="0B0B0B"/>
                </a:solidFill>
                <a:latin typeface="Arial"/>
              </a:rPr>
              <a:t>github.com/Vijayavallabh/BT3041_Project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6032" y="6547104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BT3041 term project talk</dc:title>
  <dc:subject/>
  <dc:creator>BT3041 team</dc:creator>
  <cp:keywords/>
  <dc:description/>
  <cp:lastModifiedBy>BT3041 team</cp:lastModifiedBy>
  <cp:revision>1</cp:revision>
  <dcterms:created xsi:type="dcterms:W3CDTF">2026-10-23T14:18:39Z</dcterms:created>
  <dcterms:modified xsi:type="dcterms:W3CDTF">2026-10-23T14:18:39Z</dcterms:modified>
  <cp:category/>
</cp:coreProperties>
</file>